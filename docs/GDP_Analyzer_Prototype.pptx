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75320" y="9601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75320" y="978408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75320" y="99669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75320" y="1014984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600200"/>
            <a:ext cx="1965960" cy="4254539"/>
          </a:xfrm>
          <a:prstGeom prst="rect">
            <a:avLst/>
          </a:prstGeom>
        </p:spPr>
      </p:pic>
      <p:pic>
        <p:nvPicPr>
          <p:cNvPr id="8" name="Picture 7" descr="scree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2" y="2167128"/>
            <a:ext cx="1965960" cy="4254539"/>
          </a:xfrm>
          <a:prstGeom prst="rect">
            <a:avLst/>
          </a:prstGeom>
        </p:spPr>
      </p:pic>
      <p:pic>
        <p:nvPicPr>
          <p:cNvPr id="9" name="Picture 8" descr="screen_s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734056"/>
            <a:ext cx="1965960" cy="42545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481328"/>
            <a:ext cx="91440" cy="640080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463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20">
                <a:solidFill>
                  <a:srgbClr val="9A9CEA"/>
                </a:solidFill>
                <a:latin typeface="Segoe UI Semibold"/>
              </a:rPr>
              <a:t>MOBILE APP PROTOTYPE  ·  SDG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48840"/>
            <a:ext cx="6949440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MY" sz="4700" b="1">
                <a:solidFill>
                  <a:srgbClr val="1E2240"/>
                </a:solidFill>
                <a:latin typeface="Segoe UI Semibold"/>
              </a:rPr>
              <a:t>Industrial G</a:t>
            </a:r>
            <a:r>
              <a:rPr sz="4700" b="1" dirty="0">
                <a:solidFill>
                  <a:srgbClr val="1E2240"/>
                </a:solidFill>
                <a:latin typeface="Segoe UI Semibold"/>
              </a:rPr>
              <a:t>DP</a:t>
            </a:r>
          </a:p>
          <a:p>
            <a:pPr algn="l">
              <a:lnSpc>
                <a:spcPct val="100000"/>
              </a:lnSpc>
            </a:pPr>
            <a:r>
              <a:rPr sz="4700" b="1" dirty="0">
                <a:solidFill>
                  <a:srgbClr val="1E2240"/>
                </a:solidFill>
                <a:latin typeface="Segoe UI Semibold"/>
              </a:rPr>
              <a:t>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4A4F6E"/>
                </a:solidFill>
                <a:latin typeface="Segoe UI"/>
              </a:rPr>
              <a:t>A mobile-first way to explore and compare Malaysia's GDP by state and by economic sector, one chart and one plain sentence at a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5175504"/>
            <a:ext cx="658368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2852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80">
                <a:solidFill>
                  <a:srgbClr val="8A8FAD"/>
                </a:solidFill>
                <a:latin typeface="Segoe UI Semibold"/>
              </a:rPr>
              <a:t>GROUP 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96128"/>
            <a:ext cx="1572768" cy="658368"/>
          </a:xfrm>
          <a:prstGeom prst="roundRect">
            <a:avLst>
              <a:gd name="adj" fmla="val 18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" y="5760720"/>
            <a:ext cx="91440" cy="91440"/>
          </a:xfrm>
          <a:prstGeom prst="ellipse">
            <a:avLst/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" y="5687568"/>
            <a:ext cx="1207007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1150" b="1" dirty="0">
                <a:solidFill>
                  <a:srgbClr val="1E2240"/>
                </a:solidFill>
                <a:latin typeface="Segoe UI"/>
              </a:rPr>
              <a:t>Lam Yong Zhe</a:t>
            </a:r>
            <a:endParaRPr sz="1150" b="1" dirty="0">
              <a:solidFill>
                <a:srgbClr val="1E2240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8136" y="5943600"/>
            <a:ext cx="120700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950" b="0" dirty="0">
                <a:solidFill>
                  <a:srgbClr val="8A8FAD"/>
                </a:solidFill>
                <a:latin typeface="Segoe UI"/>
              </a:rPr>
              <a:t>2508318</a:t>
            </a:r>
            <a:endParaRPr sz="950" b="0" dirty="0">
              <a:solidFill>
                <a:srgbClr val="8A8FAD"/>
              </a:solidFill>
              <a:latin typeface="Segoe U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459736" y="5596128"/>
            <a:ext cx="1572768" cy="658368"/>
          </a:xfrm>
          <a:prstGeom prst="roundRect">
            <a:avLst>
              <a:gd name="adj" fmla="val 18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06040" y="5760720"/>
            <a:ext cx="91440" cy="91440"/>
          </a:xfrm>
          <a:prstGeom prst="ellipse">
            <a:avLst/>
          </a:prstGeom>
          <a:solidFill>
            <a:srgbClr val="A2B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70632" y="5687568"/>
            <a:ext cx="1207007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1150" b="1" dirty="0">
                <a:solidFill>
                  <a:srgbClr val="1E2240"/>
                </a:solidFill>
                <a:latin typeface="Segoe UI"/>
              </a:rPr>
              <a:t>Fong Qin Wen</a:t>
            </a:r>
            <a:endParaRPr sz="1150" b="1" dirty="0">
              <a:solidFill>
                <a:srgbClr val="1E2240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70632" y="5943600"/>
            <a:ext cx="120700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950" dirty="0">
                <a:solidFill>
                  <a:srgbClr val="8A8FAD"/>
                </a:solidFill>
                <a:latin typeface="Segoe UI"/>
              </a:rPr>
              <a:t>2511719</a:t>
            </a:r>
            <a:endParaRPr sz="950" b="0" dirty="0">
              <a:solidFill>
                <a:srgbClr val="8A8FAD"/>
              </a:solidFill>
              <a:latin typeface="Segoe U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42231" y="5596128"/>
            <a:ext cx="1572768" cy="658368"/>
          </a:xfrm>
          <a:prstGeom prst="roundRect">
            <a:avLst>
              <a:gd name="adj" fmla="val 18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88536" y="5760720"/>
            <a:ext cx="91440" cy="91440"/>
          </a:xfrm>
          <a:prstGeom prst="ellipse">
            <a:avLst/>
          </a:prstGeom>
          <a:solidFill>
            <a:srgbClr val="A2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7" y="5687568"/>
            <a:ext cx="1207007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1150" b="1" dirty="0">
                <a:solidFill>
                  <a:srgbClr val="1E2240"/>
                </a:solidFill>
                <a:latin typeface="Segoe UI"/>
              </a:rPr>
              <a:t>Lai Kang Yong</a:t>
            </a:r>
            <a:endParaRPr sz="1150" b="1" dirty="0">
              <a:solidFill>
                <a:srgbClr val="1E2240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3127" y="5943600"/>
            <a:ext cx="120700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950" b="0" dirty="0">
                <a:solidFill>
                  <a:srgbClr val="8A8FAD"/>
                </a:solidFill>
                <a:latin typeface="Segoe UI"/>
              </a:rPr>
              <a:t>2508316</a:t>
            </a:r>
            <a:endParaRPr sz="950" b="0" dirty="0">
              <a:solidFill>
                <a:srgbClr val="8A8FAD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24727" y="5596128"/>
            <a:ext cx="1572768" cy="658368"/>
          </a:xfrm>
          <a:prstGeom prst="roundRect">
            <a:avLst>
              <a:gd name="adj" fmla="val 18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71031" y="5760720"/>
            <a:ext cx="91440" cy="91440"/>
          </a:xfrm>
          <a:prstGeom prst="ellipse">
            <a:avLst/>
          </a:prstGeom>
          <a:solidFill>
            <a:srgbClr val="A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35623" y="5687568"/>
            <a:ext cx="1207007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1150" b="1" dirty="0">
                <a:solidFill>
                  <a:srgbClr val="1E2240"/>
                </a:solidFill>
                <a:latin typeface="Segoe UI"/>
              </a:rPr>
              <a:t>Lian Teck Wei</a:t>
            </a:r>
            <a:endParaRPr sz="1150" b="1" dirty="0">
              <a:solidFill>
                <a:srgbClr val="1E2240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35623" y="5943600"/>
            <a:ext cx="1207007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MY" sz="950" b="0" dirty="0">
                <a:solidFill>
                  <a:srgbClr val="8A8FAD"/>
                </a:solidFill>
                <a:latin typeface="Segoe UI"/>
              </a:rPr>
              <a:t>2508325</a:t>
            </a:r>
            <a:endParaRPr sz="950" b="0" dirty="0">
              <a:solidFill>
                <a:srgbClr val="8A8FAD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603504"/>
            <a:ext cx="91440" cy="566928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220">
                <a:solidFill>
                  <a:srgbClr val="9A9CEA"/>
                </a:solidFill>
                <a:latin typeface="Segoe UI Semibold"/>
              </a:rPr>
              <a:t>01 · 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240"/>
                </a:solidFill>
                <a:latin typeface="Segoe UI Semibold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0332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A9CEA"/>
                </a:solidFill>
                <a:latin typeface="Segoe UI Semibold"/>
              </a:rPr>
              <a:t>01</a:t>
            </a:r>
            <a:r>
              <a:rPr sz="1000" b="0">
                <a:solidFill>
                  <a:srgbClr val="8A8FAD"/>
                </a:solidFill>
                <a:latin typeface="Segoe UI"/>
              </a:rPr>
              <a:t>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74519"/>
            <a:ext cx="5358384" cy="1965960"/>
          </a:xfrm>
          <a:prstGeom prst="roundRect">
            <a:avLst>
              <a:gd name="adj" fmla="val 6000"/>
            </a:avLst>
          </a:prstGeom>
          <a:solidFill>
            <a:srgbClr val="EC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5216" y="2130552"/>
            <a:ext cx="82296" cy="1453895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185415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9A9CEA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2240279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E2240"/>
                </a:solidFill>
                <a:latin typeface="Segoe UI Semibold"/>
              </a:rPr>
              <a:t>Compare across Malaysia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6776" y="2715768"/>
            <a:ext cx="39410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Explore and compare GDP by state and by economic sector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874519"/>
            <a:ext cx="5358384" cy="1965960"/>
          </a:xfrm>
          <a:prstGeom prst="roundRect">
            <a:avLst>
              <a:gd name="adj" fmla="val 6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45352" y="2130552"/>
            <a:ext cx="82296" cy="1453895"/>
          </a:xfrm>
          <a:prstGeom prst="roundRect">
            <a:avLst>
              <a:gd name="adj" fmla="val 50000"/>
            </a:avLst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185415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77E6C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240279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E2240"/>
                </a:solidFill>
                <a:latin typeface="Segoe UI Semibold"/>
              </a:rPr>
              <a:t>One chart, one sentence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715768"/>
            <a:ext cx="39410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Pick a mode, the states and a sector; get a single chart with a plain-language takeaway.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4114800"/>
            <a:ext cx="5358384" cy="1965960"/>
          </a:xfrm>
          <a:prstGeom prst="roundRect">
            <a:avLst>
              <a:gd name="adj" fmla="val 6000"/>
            </a:avLst>
          </a:prstGeom>
          <a:solidFill>
            <a:srgbClr val="E8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216" y="4370832"/>
            <a:ext cx="82296" cy="1453895"/>
          </a:xfrm>
          <a:prstGeom prst="roundRect">
            <a:avLst>
              <a:gd name="adj" fmla="val 50000"/>
            </a:avLst>
          </a:prstGeom>
          <a:solidFill>
            <a:srgbClr val="A2B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442569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A2B9EE"/>
                </a:solidFill>
                <a:latin typeface="Segoe UI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4480560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E2240"/>
                </a:solidFill>
                <a:latin typeface="Segoe UI Semibold"/>
              </a:rPr>
              <a:t>Aligned with SDG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6776" y="4956048"/>
            <a:ext cx="39410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Focused on industrial and manufacturing GDP, linked to Industry, Innovation and Infrastructure.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5358384" cy="1965960"/>
          </a:xfrm>
          <a:prstGeom prst="roundRect">
            <a:avLst>
              <a:gd name="adj" fmla="val 6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5352" y="4370832"/>
            <a:ext cx="82296" cy="1453895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442569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9A9CEA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4480560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E2240"/>
                </a:solidFill>
                <a:latin typeface="Segoe UI Semibold"/>
              </a:rPr>
              <a:t>Official open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4956048"/>
            <a:ext cx="39410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Every figure comes from data.gov.my, the government's official open-data portal.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B7194"/>
                </a:solidFill>
                <a:latin typeface="Segoe UI"/>
              </a:rPr>
              <a:t>Industrial GDP Analyzer</a:t>
            </a:r>
            <a:r>
              <a:rPr sz="950" b="0">
                <a:solidFill>
                  <a:srgbClr val="8A8FAD"/>
                </a:solidFill>
                <a:latin typeface="Segoe UI"/>
              </a:rPr>
              <a:t>   ·   data.gov.my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603504"/>
            <a:ext cx="91440" cy="566928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220">
                <a:solidFill>
                  <a:srgbClr val="9A9CEA"/>
                </a:solidFill>
                <a:latin typeface="Segoe UI Semibold"/>
              </a:rPr>
              <a:t>02 · 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240"/>
                </a:solidFill>
                <a:latin typeface="Segoe UI Semibold"/>
              </a:rPr>
              <a:t>From official reports to a self-service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160">
                <a:solidFill>
                  <a:srgbClr val="6B7194"/>
                </a:solidFill>
                <a:latin typeface="Segoe UI Semibold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792" y="1627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160">
                <a:solidFill>
                  <a:srgbClr val="177E6C"/>
                </a:solidFill>
                <a:latin typeface="Segoe UI Semibold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97510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216" y="2121408"/>
            <a:ext cx="73152" cy="649224"/>
          </a:xfrm>
          <a:prstGeom prst="roundRect">
            <a:avLst/>
          </a:prstGeom>
          <a:solidFill>
            <a:srgbClr val="8A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7510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Built for desktop websites and long PDF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97510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5352" y="2121408"/>
            <a:ext cx="73152" cy="649224"/>
          </a:xfrm>
          <a:prstGeom prst="roundRect">
            <a:avLst/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7510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E2240"/>
                </a:solidFill>
                <a:latin typeface="Segoe UI"/>
              </a:rPr>
              <a:t>Rebuilt as a mobile-first app for the same official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02666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5216" y="3172968"/>
            <a:ext cx="73152" cy="649224"/>
          </a:xfrm>
          <a:prstGeom prst="roundRect">
            <a:avLst/>
          </a:prstGeom>
          <a:solidFill>
            <a:srgbClr val="8A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02666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Fixed views — users can't mix states, sectors and years.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02666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45352" y="3172968"/>
            <a:ext cx="73152" cy="649224"/>
          </a:xfrm>
          <a:prstGeom prst="roundRect">
            <a:avLst/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02666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E2240"/>
                </a:solidFill>
                <a:latin typeface="Segoe UI"/>
              </a:rPr>
              <a:t>Tap filter chips to combine states, sector and year; every choice returns a valid result.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407822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85216" y="4224528"/>
            <a:ext cx="73152" cy="649224"/>
          </a:xfrm>
          <a:prstGeom prst="roundRect">
            <a:avLst/>
          </a:prstGeom>
          <a:solidFill>
            <a:srgbClr val="8A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07822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Full of technical terms, hard for an ordinary person to read.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078224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4224528"/>
            <a:ext cx="73152" cy="649224"/>
          </a:xfrm>
          <a:prstGeom prst="roundRect">
            <a:avLst/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078224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E2240"/>
                </a:solidFill>
                <a:latin typeface="Segoe UI"/>
              </a:rPr>
              <a:t>Each answer is one chart plus one plain sentence, e.g. “Penang's manufacturing output is 2.1× Kedah's.”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5129783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85216" y="5276088"/>
            <a:ext cx="73152" cy="649224"/>
          </a:xfrm>
          <a:prstGeom prst="roundRect">
            <a:avLst/>
          </a:prstGeom>
          <a:solidFill>
            <a:srgbClr val="8A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7824" y="5129783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F6E"/>
                </a:solidFill>
                <a:latin typeface="Segoe UI"/>
              </a:rPr>
              <a:t>No mobile app lets a normal person compare the data themselves.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5129783"/>
            <a:ext cx="5358384" cy="941832"/>
          </a:xfrm>
          <a:prstGeom prst="roundRect">
            <a:avLst>
              <a:gd name="adj" fmla="val 10000"/>
            </a:avLst>
          </a:prstGeom>
          <a:solidFill>
            <a:srgbClr val="E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5352" y="5276088"/>
            <a:ext cx="73152" cy="649224"/>
          </a:xfrm>
          <a:prstGeom prst="roundRect">
            <a:avLst/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5129783"/>
            <a:ext cx="4855464" cy="941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1E2240"/>
                </a:solidFill>
                <a:latin typeface="Segoe UI"/>
              </a:rPr>
              <a:t>Four self-service modes: compare states, sector breakdown, trend over years, dependence check.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" y="6144768"/>
            <a:ext cx="11018520" cy="457200"/>
          </a:xfrm>
          <a:prstGeom prst="roundRect">
            <a:avLst>
              <a:gd name="adj" fmla="val 50000"/>
            </a:avLst>
          </a:prstGeom>
          <a:solidFill>
            <a:srgbClr val="E8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248" y="6309360"/>
            <a:ext cx="128016" cy="128016"/>
          </a:xfrm>
          <a:prstGeom prst="ellipse">
            <a:avLst/>
          </a:prstGeom>
          <a:solidFill>
            <a:srgbClr val="A2B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3856" y="61447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E2240"/>
                </a:solidFill>
                <a:latin typeface="Segoe UI"/>
              </a:rPr>
              <a:t>Works offline  —  </a:t>
            </a:r>
            <a:r>
              <a:rPr sz="1200" b="0">
                <a:solidFill>
                  <a:srgbClr val="4A4F6E"/>
                </a:solidFill>
                <a:latin typeface="Segoe UI"/>
              </a:rPr>
              <a:t>data is cached in the app, so results still load without an Internet connection.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603504"/>
            <a:ext cx="91440" cy="566928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220">
                <a:solidFill>
                  <a:srgbClr val="9A9CEA"/>
                </a:solidFill>
                <a:latin typeface="Segoe UI Semibold"/>
              </a:rPr>
              <a:t>03 · NAVIGATION STRUCTURE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240"/>
                </a:solidFill>
                <a:latin typeface="Segoe UI Semibold"/>
              </a:rPr>
              <a:t>How the screens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0332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A9CEA"/>
                </a:solidFill>
                <a:latin typeface="Segoe UI Semibold"/>
              </a:rPr>
              <a:t>03</a:t>
            </a:r>
            <a:r>
              <a:rPr sz="1000" b="0">
                <a:solidFill>
                  <a:srgbClr val="8A8FAD"/>
                </a:solidFill>
                <a:latin typeface="Segoe UI"/>
              </a:rPr>
              <a:t>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74519"/>
            <a:ext cx="11018520" cy="4160520"/>
          </a:xfrm>
          <a:prstGeom prst="roundRect">
            <a:avLst>
              <a:gd name="adj" fmla="val 3000"/>
            </a:avLst>
          </a:prstGeom>
          <a:solidFill>
            <a:srgbClr val="F5F6FB"/>
          </a:solidFill>
          <a:ln w="19050">
            <a:solidFill>
              <a:srgbClr val="C9CBF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3566160"/>
            <a:ext cx="11018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6B7194"/>
                </a:solidFill>
                <a:latin typeface="Segoe UI Semibold"/>
              </a:rPr>
              <a:t>Navigation structure chart to be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4114800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8A8FAD"/>
                </a:solidFill>
                <a:latin typeface="Segoe UI"/>
              </a:rPr>
              <a:t>Place the app flow diagram here (Home → Analysis Filter → the four result screens).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B7194"/>
                </a:solidFill>
                <a:latin typeface="Segoe UI"/>
              </a:rPr>
              <a:t>Industrial GDP Analyzer</a:t>
            </a:r>
            <a:r>
              <a:rPr sz="950" b="0">
                <a:solidFill>
                  <a:srgbClr val="8A8FAD"/>
                </a:solidFill>
                <a:latin typeface="Segoe UI"/>
              </a:rPr>
              <a:t>   ·   data.gov.my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B0D57D-BAD6-D862-18D4-065259D1C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48" y="2075683"/>
            <a:ext cx="9934303" cy="3801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603504"/>
            <a:ext cx="91440" cy="566928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220">
                <a:solidFill>
                  <a:srgbClr val="9A9CEA"/>
                </a:solidFill>
                <a:latin typeface="Segoe UI Semibold"/>
              </a:rPr>
              <a:t>04 · SCREEN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240"/>
                </a:solidFill>
                <a:latin typeface="Segoe UI Semibold"/>
              </a:rPr>
              <a:t>One consistent pattern on every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0332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A9CEA"/>
                </a:solidFill>
                <a:latin typeface="Segoe UI Semibold"/>
              </a:rPr>
              <a:t>04</a:t>
            </a:r>
            <a:r>
              <a:rPr sz="1000" b="0">
                <a:solidFill>
                  <a:srgbClr val="8A8FAD"/>
                </a:solidFill>
                <a:latin typeface="Segoe UI"/>
              </a:rPr>
              <a:t>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91056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A4F6E"/>
                </a:solidFill>
                <a:latin typeface="Segoe UI"/>
              </a:rPr>
              <a:t>Filter chips to choose, one chart to read, one insight sentence to explain — repeated across all six screens.</a:t>
            </a:r>
          </a:p>
        </p:txBody>
      </p:sp>
      <p:pic>
        <p:nvPicPr>
          <p:cNvPr id="8" name="Picture 7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084831"/>
            <a:ext cx="1714957" cy="37113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Home</a:t>
            </a:r>
          </a:p>
        </p:txBody>
      </p:sp>
      <p:pic>
        <p:nvPicPr>
          <p:cNvPr id="10" name="Picture 9" descr="scree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477" y="2084831"/>
            <a:ext cx="1714957" cy="37113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55037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Analysis Filter</a:t>
            </a:r>
          </a:p>
        </p:txBody>
      </p:sp>
      <p:pic>
        <p:nvPicPr>
          <p:cNvPr id="12" name="Picture 11" descr="screen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38" y="2084831"/>
            <a:ext cx="1714957" cy="37113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16298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State Comparison</a:t>
            </a:r>
          </a:p>
        </p:txBody>
      </p:sp>
      <p:pic>
        <p:nvPicPr>
          <p:cNvPr id="14" name="Picture 13" descr="screen_time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99" y="2084831"/>
            <a:ext cx="1714957" cy="37113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77559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Time Trend</a:t>
            </a:r>
          </a:p>
        </p:txBody>
      </p:sp>
      <p:pic>
        <p:nvPicPr>
          <p:cNvPr id="16" name="Picture 15" descr="screen_se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0260" y="2084831"/>
            <a:ext cx="1714957" cy="371134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38820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Sector Breakdown</a:t>
            </a:r>
          </a:p>
        </p:txBody>
      </p:sp>
      <p:pic>
        <p:nvPicPr>
          <p:cNvPr id="18" name="Picture 17" descr="screen_divers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1522" y="2084831"/>
            <a:ext cx="1714957" cy="37113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00082" y="5851039"/>
            <a:ext cx="189783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B7194"/>
                </a:solidFill>
                <a:latin typeface="Segoe UI"/>
              </a:rPr>
              <a:t>Diversity Diagnosis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B7194"/>
                </a:solidFill>
                <a:latin typeface="Segoe UI"/>
              </a:rPr>
              <a:t>Industrial GDP Analyzer</a:t>
            </a:r>
            <a:r>
              <a:rPr sz="950" b="0">
                <a:solidFill>
                  <a:srgbClr val="8A8FAD"/>
                </a:solidFill>
                <a:latin typeface="Segoe UI"/>
              </a:rPr>
              <a:t>   ·   data.gov.my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603504"/>
            <a:ext cx="91440" cy="566928"/>
          </a:xfrm>
          <a:prstGeom prst="roundRect">
            <a:avLst>
              <a:gd name="adj" fmla="val 50000"/>
            </a:avLst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54864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spc="220">
                <a:solidFill>
                  <a:srgbClr val="9A9CEA"/>
                </a:solidFill>
                <a:latin typeface="Segoe UI Semibold"/>
              </a:rPr>
              <a:t>05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68096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E2240"/>
                </a:solidFill>
                <a:latin typeface="Segoe UI Semibold"/>
              </a:rPr>
              <a:t>Simple answers from official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81328"/>
            <a:ext cx="11018520" cy="18288"/>
          </a:xfrm>
          <a:prstGeom prst="rect">
            <a:avLst/>
          </a:prstGeom>
          <a:solidFill>
            <a:srgbClr val="E7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0332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9A9CEA"/>
                </a:solidFill>
                <a:latin typeface="Segoe UI Semibold"/>
              </a:rPr>
              <a:t>05</a:t>
            </a:r>
            <a:r>
              <a:rPr sz="1000" b="0">
                <a:solidFill>
                  <a:srgbClr val="8A8FAD"/>
                </a:solidFill>
                <a:latin typeface="Segoe UI"/>
              </a:rPr>
              <a:t>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057400"/>
            <a:ext cx="11018520" cy="987552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2276856"/>
            <a:ext cx="548640" cy="548640"/>
          </a:xfrm>
          <a:prstGeom prst="ellipse">
            <a:avLst/>
          </a:prstGeom>
          <a:solidFill>
            <a:srgbClr val="9A9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7685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57400"/>
            <a:ext cx="96926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1E2240"/>
                </a:solidFill>
                <a:latin typeface="Segoe UI"/>
              </a:rPr>
              <a:t>Turns official but hard-to-read GDP data into simple, mobile-friendly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227832"/>
            <a:ext cx="11018520" cy="987552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447288"/>
            <a:ext cx="548640" cy="548640"/>
          </a:xfrm>
          <a:prstGeom prst="ellipse">
            <a:avLst/>
          </a:prstGeom>
          <a:solidFill>
            <a:srgbClr val="177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27832"/>
            <a:ext cx="96926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1E2240"/>
                </a:solidFill>
                <a:latin typeface="Segoe UI"/>
              </a:rPr>
              <a:t>Supports SDG 9 by showing which states are industrialised and which lean too much on a single sector.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398264"/>
            <a:ext cx="11018520" cy="987552"/>
          </a:xfrm>
          <a:prstGeom prst="roundRect">
            <a:avLst>
              <a:gd name="adj" fmla="val 10000"/>
            </a:avLst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A2B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98264"/>
            <a:ext cx="96926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>
                <a:solidFill>
                  <a:srgbClr val="1E2240"/>
                </a:solidFill>
                <a:latin typeface="Segoe UI"/>
              </a:rPr>
              <a:t>One simple, consistent design: every page is filter chips, one chart, and one insight sentence.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6B7194"/>
                </a:solidFill>
                <a:latin typeface="Segoe UI"/>
              </a:rPr>
              <a:t>Industrial GDP Analyzer</a:t>
            </a:r>
            <a:r>
              <a:rPr sz="950" b="0">
                <a:solidFill>
                  <a:srgbClr val="8A8FAD"/>
                </a:solidFill>
                <a:latin typeface="Segoe UI"/>
              </a:rPr>
              <a:t>   ·   data.gov.my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475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ketoru 210</cp:lastModifiedBy>
  <cp:revision>6</cp:revision>
  <dcterms:created xsi:type="dcterms:W3CDTF">2013-01-27T09:14:16Z</dcterms:created>
  <dcterms:modified xsi:type="dcterms:W3CDTF">2026-07-23T03:22:34Z</dcterms:modified>
  <cp:category/>
</cp:coreProperties>
</file>